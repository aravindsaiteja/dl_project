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sldIdLst>
    <p:sldId id="256" r:id="rId2"/>
    <p:sldId id="257" r:id="rId3"/>
    <p:sldId id="259" r:id="rId4"/>
    <p:sldId id="258" r:id="rId5"/>
    <p:sldId id="262" r:id="rId6"/>
    <p:sldId id="263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62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6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45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41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82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60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9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7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06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45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6292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5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4556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75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678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66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FDEFE-5AC4-4AD0-9299-9CE36E896DE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B6D1133-361A-4467-A082-0BEA8F15E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43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5D65-82C9-6051-3A40-AC476D168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80" y="452284"/>
            <a:ext cx="9124336" cy="2703870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Analysis of Neural Networks Using Feature Attribution Methods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A3146-A949-A97F-040C-6474CE633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8294" y="3515034"/>
            <a:ext cx="5486673" cy="142076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55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307B-1A17-A300-4B76-96DF3E98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7755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B4CFC-6A17-87D5-D4C0-3E2A78EB7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95949"/>
            <a:ext cx="8596668" cy="4139380"/>
          </a:xfrm>
        </p:spPr>
        <p:txBody>
          <a:bodyPr>
            <a:normAutofit/>
          </a:bodyPr>
          <a:lstStyle/>
          <a:p>
            <a:r>
              <a:rPr lang="en-US" dirty="0"/>
              <a:t>Deep Neural Networks (DNNs) have achieved remarkable performance across various domains, including healthcare diagnosis, financial prediction, and computer vision applications.</a:t>
            </a:r>
          </a:p>
          <a:p>
            <a:r>
              <a:rPr lang="en-US" dirty="0"/>
              <a:t>Despite their high accuracy, these models function as </a:t>
            </a:r>
            <a:r>
              <a:rPr lang="en-US" b="1" dirty="0"/>
              <a:t>black-box systems</a:t>
            </a:r>
            <a:r>
              <a:rPr lang="en-US" dirty="0"/>
              <a:t>, offering limited visibility into their internal decision-making processes.</a:t>
            </a:r>
          </a:p>
          <a:p>
            <a:r>
              <a:rPr lang="en-US" dirty="0"/>
              <a:t>In high-stakes applications, understanding </a:t>
            </a:r>
            <a:r>
              <a:rPr lang="en-US" i="1" dirty="0"/>
              <a:t>why</a:t>
            </a:r>
            <a:r>
              <a:rPr lang="en-US" dirty="0"/>
              <a:t> a model makes a particular prediction is essential to ensure trust, transparency, and accountability.</a:t>
            </a:r>
          </a:p>
          <a:p>
            <a:r>
              <a:rPr lang="en-US" dirty="0"/>
              <a:t>This project focuses on enhancing neural network interpretability through feature attribution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28159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1594-6B36-11B4-9FEC-AE1E8F0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3561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&amp; 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ACB3-DEE9-3BFC-3381-4DE176266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5007"/>
            <a:ext cx="8596668" cy="495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objectives of this project are: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neural networks on benchmark datasets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feature attribution methods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visual explanations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explainability techniques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explanation stability and faithfulness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utilizes both image and tabular datasets: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 – Handwritten digit classification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 – Object recognition dataset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Wisconsin Dataset – Medical diagnosis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 Income Dataset – Socioeconomic classification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diverse datasets ensures robustness of analysis.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23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3496AE-1077-2736-8B11-97DF4901D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37174" cy="6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42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FB9E-2D98-F6A6-1709-72FC15B7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79" y="550606"/>
            <a:ext cx="8596668" cy="845574"/>
          </a:xfrm>
        </p:spPr>
        <p:txBody>
          <a:bodyPr>
            <a:noAutofit/>
          </a:bodyPr>
          <a:lstStyle/>
          <a:p>
            <a:pPr algn="ctr"/>
            <a:r>
              <a:rPr lang="en-IN" sz="4400" dirty="0"/>
              <a:t>System Architecture Overview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E4F28-C616-848B-7367-64D740E40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1987"/>
            <a:ext cx="8596668" cy="484730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proposed explainability framework follows a structured pipeline consisting of the following stages:</a:t>
            </a:r>
          </a:p>
          <a:p>
            <a:r>
              <a:rPr lang="en-US" b="1" dirty="0"/>
              <a:t>User Input</a:t>
            </a:r>
            <a:br>
              <a:rPr lang="en-US" dirty="0"/>
            </a:br>
            <a:r>
              <a:rPr lang="en-US" dirty="0"/>
              <a:t>Image or tabular data is provided to the system.</a:t>
            </a:r>
          </a:p>
          <a:p>
            <a:r>
              <a:rPr lang="en-US" b="1" dirty="0"/>
              <a:t>Neural Network Model Training</a:t>
            </a:r>
            <a:br>
              <a:rPr lang="en-US" dirty="0"/>
            </a:br>
            <a:r>
              <a:rPr lang="en-US" dirty="0"/>
              <a:t>CNN models are used for image datasets, and MLP models are used for tabular datasets.</a:t>
            </a:r>
          </a:p>
          <a:p>
            <a:r>
              <a:rPr lang="en-US" b="1" dirty="0"/>
              <a:t>Output Prediction</a:t>
            </a:r>
            <a:br>
              <a:rPr lang="en-US" dirty="0"/>
            </a:br>
            <a:r>
              <a:rPr lang="en-US" dirty="0"/>
              <a:t>The trained model generates classification results.</a:t>
            </a:r>
          </a:p>
          <a:p>
            <a:r>
              <a:rPr lang="en-US" b="1" dirty="0"/>
              <a:t>Application of Feature Attribution Methods</a:t>
            </a:r>
            <a:br>
              <a:rPr lang="en-US" dirty="0"/>
            </a:br>
            <a:r>
              <a:rPr lang="en-US" dirty="0"/>
              <a:t>Post-hoc explainability techniques are applied to analyze feature contributions.</a:t>
            </a:r>
          </a:p>
          <a:p>
            <a:r>
              <a:rPr lang="en-US" b="1" dirty="0"/>
              <a:t>Interpretation and Analysis</a:t>
            </a:r>
            <a:br>
              <a:rPr lang="en-US" dirty="0"/>
            </a:br>
            <a:r>
              <a:rPr lang="en-US" dirty="0"/>
              <a:t>The generated explanations are evaluated to understand model behavior and feature influence.</a:t>
            </a:r>
          </a:p>
          <a:p>
            <a:pPr marL="0" indent="0">
              <a:buNone/>
            </a:pPr>
            <a:r>
              <a:rPr lang="en-US" dirty="0"/>
              <a:t>This structured architecture ensures systematic and reliable explainability evaluation.</a:t>
            </a:r>
          </a:p>
        </p:txBody>
      </p:sp>
    </p:spTree>
    <p:extLst>
      <p:ext uri="{BB962C8B-B14F-4D97-AF65-F5344CB8AC3E}">
        <p14:creationId xmlns:p14="http://schemas.microsoft.com/office/powerpoint/2010/main" val="84208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440A-1CC5-7789-EC5F-FE51AF8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31503"/>
            <a:ext cx="8596668" cy="983224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Attribution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01404-336B-0C3F-36B3-01FD9B20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727"/>
            <a:ext cx="8596668" cy="4905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interpret model predictions, we implement two categories of explainability methods:</a:t>
            </a:r>
          </a:p>
          <a:p>
            <a:pPr marL="0" indent="0">
              <a:buNone/>
            </a:pPr>
            <a:r>
              <a:rPr lang="en-US" b="1" dirty="0"/>
              <a:t> Gradient-Based Methods</a:t>
            </a:r>
          </a:p>
          <a:p>
            <a:r>
              <a:rPr lang="en-US" b="1" dirty="0"/>
              <a:t>Saliency Maps</a:t>
            </a:r>
            <a:r>
              <a:rPr lang="en-US" dirty="0"/>
              <a:t> – Highlight important input regions influencing predictions.</a:t>
            </a:r>
          </a:p>
          <a:p>
            <a:r>
              <a:rPr lang="en-US" b="1" dirty="0"/>
              <a:t>Integrated Gradients</a:t>
            </a:r>
            <a:r>
              <a:rPr lang="en-US" dirty="0"/>
              <a:t> – Measure feature contributions by accumulating gradients along the input path.</a:t>
            </a:r>
          </a:p>
          <a:p>
            <a:pPr marL="0" indent="0">
              <a:buNone/>
            </a:pPr>
            <a:r>
              <a:rPr lang="en-US" b="1" dirty="0"/>
              <a:t> Model-Agnostic Methods</a:t>
            </a:r>
          </a:p>
          <a:p>
            <a:r>
              <a:rPr lang="en-US" b="1" dirty="0"/>
              <a:t>LIME (Local Interpretable Model-Agnostic Explanations)</a:t>
            </a:r>
            <a:r>
              <a:rPr lang="en-US" dirty="0"/>
              <a:t> – Provides local approximations of model behavior.</a:t>
            </a:r>
          </a:p>
          <a:p>
            <a:r>
              <a:rPr lang="en-US" b="1" dirty="0"/>
              <a:t>SHAP (</a:t>
            </a:r>
            <a:r>
              <a:rPr lang="en-US" b="1" dirty="0" err="1"/>
              <a:t>SHapley</a:t>
            </a:r>
            <a:r>
              <a:rPr lang="en-US" b="1" dirty="0"/>
              <a:t> Additive Explanations)</a:t>
            </a:r>
            <a:r>
              <a:rPr lang="en-US" dirty="0"/>
              <a:t> – Computes feature contributions based on cooperative game theory principles.</a:t>
            </a:r>
          </a:p>
          <a:p>
            <a:r>
              <a:rPr lang="en-US" dirty="0"/>
              <a:t>Each method offers a distinct perspective on feature importance, enabling comprehensive interpretability analysis.</a:t>
            </a:r>
          </a:p>
        </p:txBody>
      </p:sp>
    </p:spTree>
    <p:extLst>
      <p:ext uri="{BB962C8B-B14F-4D97-AF65-F5344CB8AC3E}">
        <p14:creationId xmlns:p14="http://schemas.microsoft.com/office/powerpoint/2010/main" val="160688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0AFE-B9BC-71AA-2306-5F9EE26E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5406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Workflow, Evaluation and Comparative Analysis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C837C-AF31-D32F-65D6-00B2BC186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995"/>
            <a:ext cx="8596668" cy="445836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System Workflow</a:t>
            </a:r>
          </a:p>
          <a:p>
            <a:pPr marL="0" indent="0">
              <a:buNone/>
            </a:pPr>
            <a:r>
              <a:rPr lang="en-US" dirty="0"/>
              <a:t>	The explainability framework follows a structured pipeline:</a:t>
            </a:r>
          </a:p>
          <a:p>
            <a:r>
              <a:rPr lang="en-US" b="1" dirty="0"/>
              <a:t>Data Preprocessing</a:t>
            </a:r>
            <a:br>
              <a:rPr lang="en-US" dirty="0"/>
            </a:br>
            <a:r>
              <a:rPr lang="en-US" dirty="0"/>
              <a:t>Raw datasets are cleaned, normalized, and prepared for model training.</a:t>
            </a:r>
          </a:p>
          <a:p>
            <a:r>
              <a:rPr lang="en-US" b="1" dirty="0"/>
              <a:t>Model Prediction</a:t>
            </a:r>
            <a:br>
              <a:rPr lang="en-US" dirty="0"/>
            </a:br>
            <a:r>
              <a:rPr lang="en-US" dirty="0"/>
              <a:t>The trained neural network (CNN/MLP) generates classification outputs.</a:t>
            </a:r>
          </a:p>
          <a:p>
            <a:r>
              <a:rPr lang="en-US" b="1" dirty="0"/>
              <a:t>Feature Attribution</a:t>
            </a:r>
            <a:br>
              <a:rPr lang="en-US" dirty="0"/>
            </a:br>
            <a:r>
              <a:rPr lang="en-US" dirty="0"/>
              <a:t>Explainability methods (Saliency Maps, LIME, SHAP) compute feature importance scores to identify influential inputs.</a:t>
            </a:r>
          </a:p>
          <a:p>
            <a:r>
              <a:rPr lang="en-US" b="1" dirty="0"/>
              <a:t>Visualization</a:t>
            </a:r>
            <a:br>
              <a:rPr lang="en-US" dirty="0"/>
            </a:br>
            <a:r>
              <a:rPr lang="en-US" dirty="0"/>
              <a:t>Attribution results are visualized through heatmaps and feature importance plots.</a:t>
            </a:r>
          </a:p>
          <a:p>
            <a:r>
              <a:rPr lang="en-US" b="1" dirty="0"/>
              <a:t>Interpretation Assessment</a:t>
            </a:r>
            <a:br>
              <a:rPr lang="en-US" dirty="0"/>
            </a:br>
            <a:r>
              <a:rPr lang="en-US" dirty="0"/>
              <a:t>Generated explanations are systematically analyzed for reliability and consistency.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84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A5F8-8BC8-F367-DC24-9DCEB69A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Comparative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9B30-AD51-832B-7AD2-42EA01916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1819"/>
            <a:ext cx="8596668" cy="4389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systematically assess the effectiveness of different explainability techniques, we compare them based on the following criteria: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clarity, relevance, and interpretability of feature importance results.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Across Runs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Consistency of explanations when the model is retrained or tested multiple times.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to Model Behavior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degree to which explanations accurately reflect the model’s true decision-making process.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Time and resource requirements for generating explanations.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comparative evaluation enables us to identify the strengths and limitations of each feature attribution method.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4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6AF6-9B9A-2828-4680-5ADB0E217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93058"/>
            <a:ext cx="8596668" cy="737419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4C27C-B3D3-4039-4469-5A1C29B65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contributes significantly to improving interpretability in deep learning systems by:</a:t>
            </a:r>
          </a:p>
          <a:p>
            <a:r>
              <a:rPr lang="en-US" dirty="0"/>
              <a:t>Enhancing </a:t>
            </a:r>
            <a:r>
              <a:rPr lang="en-US" b="1" dirty="0"/>
              <a:t>transparency</a:t>
            </a:r>
            <a:r>
              <a:rPr lang="en-US" dirty="0"/>
              <a:t> in AI models</a:t>
            </a:r>
          </a:p>
          <a:p>
            <a:r>
              <a:rPr lang="en-US" dirty="0"/>
              <a:t>Increasing </a:t>
            </a:r>
            <a:r>
              <a:rPr lang="en-US" b="1" dirty="0"/>
              <a:t>trust</a:t>
            </a:r>
            <a:r>
              <a:rPr lang="en-US" dirty="0"/>
              <a:t> in medical and financial decision systems</a:t>
            </a:r>
          </a:p>
          <a:p>
            <a:r>
              <a:rPr lang="en-US" dirty="0"/>
              <a:t>Promoting </a:t>
            </a:r>
            <a:r>
              <a:rPr lang="en-US" b="1" dirty="0"/>
              <a:t>accountability</a:t>
            </a:r>
            <a:r>
              <a:rPr lang="en-US" dirty="0"/>
              <a:t> in neural network predictions</a:t>
            </a:r>
          </a:p>
          <a:p>
            <a:r>
              <a:rPr lang="en-US" dirty="0"/>
              <a:t>Supporting the development of </a:t>
            </a:r>
            <a:r>
              <a:rPr lang="en-US" b="1" dirty="0"/>
              <a:t>responsible and ethical AI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By integrating systematic evaluation with multiple attribution techniques, we transform neural networks from black-box models into interpretable and trustworthy AI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0591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</TotalTime>
  <Words>635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Explainability Analysis of Neural Networks Using Feature Attribution Methods </vt:lpstr>
      <vt:lpstr>Introduction  </vt:lpstr>
      <vt:lpstr>Project Objectives &amp; Datasets Used</vt:lpstr>
      <vt:lpstr>PowerPoint Presentation</vt:lpstr>
      <vt:lpstr>System Architecture Overview</vt:lpstr>
      <vt:lpstr>Feature Attribution Techniques</vt:lpstr>
      <vt:lpstr>Workflow, Evaluation and Comparative Analysis</vt:lpstr>
      <vt:lpstr>Evaluation and Comparative Analysis</vt:lpstr>
      <vt:lpstr>Conclusion and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Aravind Sai teja</dc:creator>
  <cp:lastModifiedBy>Aravind Sai teja</cp:lastModifiedBy>
  <cp:revision>5</cp:revision>
  <dcterms:created xsi:type="dcterms:W3CDTF">2026-02-07T04:48:50Z</dcterms:created>
  <dcterms:modified xsi:type="dcterms:W3CDTF">2026-02-22T17:29:37Z</dcterms:modified>
</cp:coreProperties>
</file>